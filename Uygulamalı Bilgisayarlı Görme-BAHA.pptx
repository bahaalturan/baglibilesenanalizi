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65" r:id="rId5"/>
    <p:sldId id="264" r:id="rId6"/>
    <p:sldId id="286" r:id="rId7"/>
    <p:sldId id="2571" r:id="rId8"/>
    <p:sldId id="2586" r:id="rId9"/>
    <p:sldId id="2585" r:id="rId10"/>
    <p:sldId id="2587" r:id="rId11"/>
    <p:sldId id="2584" r:id="rId12"/>
    <p:sldId id="2583" r:id="rId13"/>
    <p:sldId id="313" r:id="rId14"/>
    <p:sldId id="2581" r:id="rId15"/>
    <p:sldId id="2580" r:id="rId16"/>
    <p:sldId id="2579" r:id="rId17"/>
    <p:sldId id="2578" r:id="rId18"/>
    <p:sldId id="2577" r:id="rId19"/>
    <p:sldId id="2576" r:id="rId20"/>
    <p:sldId id="2575" r:id="rId21"/>
    <p:sldId id="2574" r:id="rId22"/>
    <p:sldId id="2573" r:id="rId23"/>
    <p:sldId id="2572" r:id="rId24"/>
    <p:sldId id="268" r:id="rId2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Açık Stil 1 - Vurgu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Açık Stil 1 - Vurgu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4C5AC9BB-5E75-442C-8B7F-D5E7EF0C38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B996F32-CA88-45A7-A7D9-B072DFED20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tr-TR"/>
              <a:t>19.12.2025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B7371CB-D22F-4895-A338-38CFAA21F9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8E798DB-44BB-4408-B8C0-CE277099B7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F8CB0-DA26-4856-9E9D-B333B84FD9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2942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tr-TR"/>
              <a:t>19.12.2025</a:t>
            </a:r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AB35E-0163-4AA0-8748-D55625B949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500357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3364C0-C948-4A07-A594-48B197626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EBBBE52-E0BE-4560-A1BE-F954A2BEF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428047-5EA7-408F-B1D2-681FD465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9CC2555-5183-467A-8D3B-50E99822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3302B32-49B2-4BBF-B873-9653AA73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pPr/>
              <a:t>‹#›</a:t>
            </a:fld>
            <a:r>
              <a:rPr lang="tr-TR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29835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4E49D5-9C52-4979-A5CF-66B8101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C13081-5C1E-4244-B40B-FD73C3F5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B093E1-D7B4-4A24-8593-8D3BA427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58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SUNUM BAŞLIĞI/ ADI SOYADI</a:t>
            </a:r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0C2C9D4-C655-4CD4-A862-C76D2F8B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‹#›</a:t>
            </a:fld>
            <a:r>
              <a:rPr lang="tr-TR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64525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ED7F42-D1DE-432B-8CA7-2B5BA5FF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B0B8842-CB31-48DE-ADFF-C6010A6C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B36D824-E8FE-4DBA-875F-7566B4B0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FBECDB1-278D-4436-B1E0-F5C4FFD0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483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51FD88-9F0B-440F-ACBB-43CBA6CE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F5290A-7D66-4A9F-89BC-56CEEBCD2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9D77CFA-95A2-475D-8F9D-BF068D92B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E100231-8F74-4691-A3EC-F9BE8E4A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ABB0E34-BFBC-4DA5-947E-9EC48056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487A636-60FD-4D2F-ABDB-21CAD5AD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268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DA01CF-3FDC-4138-99D7-0FE504D7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311E5F5-E788-40E9-979F-7204065B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AFF34B2-93AB-4627-9E69-7868BAB87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2D2CF16-D4D3-4D95-9F96-9C2D2CD7C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E839D93-B5AC-445E-B7D3-E03435BC2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D8207E5-DB7C-4EBE-81F7-472C9AB1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81B9C714-580A-4901-A0A6-A458F08D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2A2C62C-41CF-448D-A76E-E7A62635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856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C5B02D-6F65-4231-8EF6-27FE1A43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FE15DBB-334C-477A-B60E-EC70AF8B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8B4309D-D6C6-46D1-A870-56F947C2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B3D2574-F850-4D1D-A329-A52CB566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749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FE8FFF5-E6FA-45BE-B44C-CF8BB93B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A4D1F63-C58A-45A0-B885-565F2BCB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689FFB5-5887-411A-AB3E-E68A110C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599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261100-1A4A-4CD8-B847-6B6EB618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6BC594-1AB9-4D8A-BEB0-61B3E4337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838E59-E2A1-4A9A-988D-70E781EC8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9C9D8B5-0D34-41EC-A4FE-6D12A949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2CA941A-9B09-45D3-AA13-4C71A7EC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3E13E58-E2EA-4ECA-8E33-5457683C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88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4ABB57-D14C-458D-801C-0F0B6DFB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DA5ABA4-40FC-4653-BCB0-95A5402D8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00A33D5-DDA8-4EEC-8823-780E66B07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90B2DF1-F203-41E7-A5C4-F5E92F60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AADF675-927F-4600-A062-A062B9B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9CFFA4B-77A4-4931-AE9E-E666E832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714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87F5CE-92DD-40D7-91FE-1F4D35FC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2827802-ECE0-44D0-85D9-933A86765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82E26C-E3B1-4DEC-BACC-5AC8E794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3EE06D-4F05-4AD2-981B-B164E8BF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05C6785-0433-4F6E-8CA9-C729B9D2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939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D39AC86-7BF3-45B8-B9C7-002AF14CE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6443EE6-3325-4FC7-8417-67DFDE050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3A9399-8C0D-4ECD-BAD7-DAF984BB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E8AD2B4-6408-40C3-BB92-13D84441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9509BB9-6BD1-4EF9-9520-1AD52FBD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412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7016DDF-40E0-46CD-A951-EC5DC64C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FFD1E6A-123A-4D7A-84C8-3904F4343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AD5A4F-9B3F-4131-8519-FB8D6B4E1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4B2343-7C09-40F0-9834-37075D088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SUNUM BAŞLIĞI/ ADI SOYADI</a:t>
            </a: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8B36E0-286E-42F3-8A16-880B7D5C5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1C15D-3E34-4DBE-AB9F-08EBE446C56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794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750F2736-319F-436C-883D-F6EA2CCC77E4}"/>
              </a:ext>
            </a:extLst>
          </p:cNvPr>
          <p:cNvSpPr/>
          <p:nvPr/>
        </p:nvSpPr>
        <p:spPr>
          <a:xfrm>
            <a:off x="0" y="0"/>
            <a:ext cx="12192000" cy="4392891"/>
          </a:xfrm>
          <a:prstGeom prst="rect">
            <a:avLst/>
          </a:prstGeom>
          <a:solidFill>
            <a:srgbClr val="1B3C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8484951-66D6-44FD-8377-F7BD134D5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764"/>
            <a:ext cx="9144000" cy="2933883"/>
          </a:xfrm>
        </p:spPr>
        <p:txBody>
          <a:bodyPr>
            <a:normAutofit fontScale="90000"/>
          </a:bodyPr>
          <a:lstStyle/>
          <a:p>
            <a:br>
              <a:rPr lang="tr-TR" sz="6600" dirty="0">
                <a:solidFill>
                  <a:schemeClr val="bg1"/>
                </a:solidFill>
              </a:rPr>
            </a:br>
            <a:br>
              <a:rPr lang="tr-TR" sz="6600" dirty="0">
                <a:solidFill>
                  <a:schemeClr val="bg1"/>
                </a:solidFill>
              </a:rPr>
            </a:br>
            <a:r>
              <a:rPr lang="tr-TR" sz="6700" dirty="0">
                <a:solidFill>
                  <a:schemeClr val="bg1"/>
                </a:solidFill>
              </a:rPr>
              <a:t>Uygulamalı Bilgisayarlı Görme</a:t>
            </a:r>
            <a:br>
              <a:rPr lang="tr-TR" sz="6600" dirty="0">
                <a:solidFill>
                  <a:schemeClr val="bg1"/>
                </a:solidFill>
              </a:rPr>
            </a:br>
            <a:r>
              <a:rPr lang="tr-TR" sz="4400" dirty="0">
                <a:solidFill>
                  <a:schemeClr val="bg1"/>
                </a:solidFill>
              </a:rPr>
              <a:t>BAĞLI BİLEŞEN ANALİZİ İLE NESNE SAYIMI VE BASİT HATA SINIFLANDIRMASI</a:t>
            </a:r>
            <a:endParaRPr lang="tr-TR" sz="6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6D089CC-0CC7-44F4-A4E3-6DB9AA2B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57351"/>
            <a:ext cx="9144000" cy="1242740"/>
          </a:xfrm>
        </p:spPr>
        <p:txBody>
          <a:bodyPr>
            <a:noAutofit/>
          </a:bodyPr>
          <a:lstStyle/>
          <a:p>
            <a:r>
              <a:rPr lang="tr-TR" sz="3600" dirty="0"/>
              <a:t>2438166509</a:t>
            </a:r>
          </a:p>
          <a:p>
            <a:r>
              <a:rPr lang="tr-TR" sz="3600" dirty="0"/>
              <a:t>Baha ALTURAN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304D42FD-BC3C-454C-B4EC-049BC999C472}"/>
              </a:ext>
            </a:extLst>
          </p:cNvPr>
          <p:cNvSpPr txBox="1">
            <a:spLocks/>
          </p:cNvSpPr>
          <p:nvPr/>
        </p:nvSpPr>
        <p:spPr>
          <a:xfrm>
            <a:off x="1524000" y="5656656"/>
            <a:ext cx="9144000" cy="627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tr-TR" b="1" dirty="0">
              <a:latin typeface="+mj-lt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774639F-ABC8-40A9-B1C6-5F3B017BF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211" y="166320"/>
            <a:ext cx="2799578" cy="93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2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85EE399-8DFF-4E9A-9FD8-E52D9D6B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6F7F945-AC3B-F36D-EAE1-AE483243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2</a:t>
            </a:fld>
            <a:r>
              <a:rPr lang="tr-TR" dirty="0"/>
              <a:t>/21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556CAC7-FFD9-0D99-9F8E-5AB957C9E064}"/>
              </a:ext>
            </a:extLst>
          </p:cNvPr>
          <p:cNvSpPr txBox="1"/>
          <p:nvPr/>
        </p:nvSpPr>
        <p:spPr>
          <a:xfrm>
            <a:off x="439750" y="2160413"/>
            <a:ext cx="114404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Bağlı Bileşen Analizi ile Nesne Sayımı ve Basit Hata Sınıflandırması</a:t>
            </a:r>
          </a:p>
          <a:p>
            <a:endParaRPr lang="tr-TR" dirty="0"/>
          </a:p>
          <a:p>
            <a:r>
              <a:rPr lang="tr-TR" dirty="0"/>
              <a:t>Baha ALTURAN</a:t>
            </a:r>
            <a:br>
              <a:rPr lang="tr-TR" dirty="0"/>
            </a:br>
            <a:r>
              <a:rPr lang="tr-TR" dirty="0"/>
              <a:t>Karabük Üniversitesi</a:t>
            </a:r>
            <a:br>
              <a:rPr lang="tr-TR" dirty="0"/>
            </a:br>
            <a:r>
              <a:rPr lang="tr-TR" dirty="0"/>
              <a:t>Uygulamalı Bilgisayarlı Görme</a:t>
            </a:r>
            <a:br>
              <a:rPr lang="tr-TR" dirty="0"/>
            </a:br>
            <a:r>
              <a:rPr lang="tr-TR" dirty="0"/>
              <a:t>Dr. Öğr. Üyesi İdris Kahraman</a:t>
            </a:r>
            <a:br>
              <a:rPr lang="tr-TR" dirty="0"/>
            </a:br>
            <a:r>
              <a:rPr lang="tr-TR" dirty="0"/>
              <a:t>2026</a:t>
            </a:r>
          </a:p>
          <a:p>
            <a:endParaRPr lang="tr-TR" dirty="0"/>
          </a:p>
          <a:p>
            <a:endParaRPr lang="tr-TR" dirty="0"/>
          </a:p>
          <a:p>
            <a:r>
              <a:rPr lang="tr-TR" sz="2000" dirty="0"/>
              <a:t>“Bu çalışmada klasik görüntü işleme yöntemleri kullanılarak madeni para görüntülerinde nesne sayımı gerçekleştirilmiştir. Derin öğrenme kullanılmadan, bağlı bileşen analizi temelli bir yaklaşım sunulmuştur.”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522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851A6-17F5-ED5D-B579-446D7038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454576B-3876-054A-6EAD-0BFF308A0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EED365-7475-9C74-5C9E-82257953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/>
              <a:t>Nesne Sayımı Problemi</a:t>
            </a:r>
            <a:endParaRPr lang="tr-TR" sz="1800" dirty="0"/>
          </a:p>
          <a:p>
            <a:r>
              <a:rPr lang="tr-TR" sz="1800" dirty="0"/>
              <a:t>Görüntülerdeki nesnelerin otomatik olarak tespit edilmesi</a:t>
            </a:r>
          </a:p>
          <a:p>
            <a:r>
              <a:rPr lang="tr-TR" sz="1800" dirty="0"/>
              <a:t>Nesne sayısının doğru biçimde hesaplanması</a:t>
            </a:r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Kullanım Alanları</a:t>
            </a:r>
            <a:endParaRPr lang="tr-TR" sz="1800" dirty="0"/>
          </a:p>
          <a:p>
            <a:r>
              <a:rPr lang="tr-TR" sz="1800" dirty="0"/>
              <a:t>Endüstriyel kalite kontrol</a:t>
            </a:r>
          </a:p>
          <a:p>
            <a:r>
              <a:rPr lang="tr-TR" sz="1800" dirty="0"/>
              <a:t>Biyomedikal görüntü analizi</a:t>
            </a:r>
          </a:p>
          <a:p>
            <a:r>
              <a:rPr lang="tr-TR" sz="1800" dirty="0"/>
              <a:t>Tarım ve güvenlik sistemleri</a:t>
            </a:r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“Nesne sayımı, görüntü işleme alanında temel problemlerdendir. Bu problem özellikle sade arka planlı görüntülerde klasik yöntemlerle çözülebilmektedir.”</a:t>
            </a:r>
          </a:p>
          <a:p>
            <a:pPr marL="0" indent="0" algn="just">
              <a:buNone/>
            </a:pPr>
            <a:endParaRPr lang="tr-TR" sz="36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399FA55-678A-9B17-4635-C20387E6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3</a:t>
            </a:fld>
            <a:r>
              <a:rPr lang="tr-TR" dirty="0"/>
              <a:t>/21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F44F378-9D66-408E-A15B-74B96C783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202" y="2642302"/>
            <a:ext cx="3793690" cy="301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0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39AB-A96C-41EE-022B-BABFD5F1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45FBE6A-67BC-9FE0-6F32-B6A586D89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B4ED5B-0E15-71E2-DB0B-555AC546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b="1" dirty="0"/>
              <a:t>Bu Çalışmanın Amacı;</a:t>
            </a:r>
          </a:p>
          <a:p>
            <a:pPr marL="0" indent="0">
              <a:buNone/>
            </a:pPr>
            <a:endParaRPr lang="tr-TR" sz="2400" dirty="0"/>
          </a:p>
          <a:p>
            <a:r>
              <a:rPr lang="tr-TR" sz="1800" dirty="0"/>
              <a:t>Derin öğrenme kullanmadan nesne sayımı yapmak</a:t>
            </a:r>
          </a:p>
          <a:p>
            <a:r>
              <a:rPr lang="tr-TR" sz="1800" dirty="0"/>
              <a:t>Klasik yöntemlerin başarımını incelemek</a:t>
            </a:r>
          </a:p>
          <a:p>
            <a:r>
              <a:rPr lang="tr-TR" sz="1800" dirty="0"/>
              <a:t>Parametrelerin performansa etkisini analiz etmek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Çalışmada özellikle klasik yöntemlerin hangi koşullarda başarılı, hangi koşullarda yetersiz kaldığı analiz edilmiştir.</a:t>
            </a:r>
            <a:endParaRPr lang="tr-TR" sz="36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E787999-3ACA-1D10-C64D-96E3552A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4</a:t>
            </a:fld>
            <a:r>
              <a:rPr lang="tr-TR" dirty="0"/>
              <a:t>/21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C47A4BF-D008-E747-9BB8-D0CC4468A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00" y="1712877"/>
            <a:ext cx="4150766" cy="41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5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A236-5BE9-7103-5C25-14DC0962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EC81A21-BD8F-FF53-5676-976A862A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249E4CCB-89DF-E34E-5FD7-1C19CFF8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GENEL YAKLAŞIM (PIPELINE)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4E7C43-8917-EEF3-C9FF-9DEB877C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/>
              <a:t>Görüntü İşleme Hattı</a:t>
            </a:r>
            <a:endParaRPr lang="tr-TR" sz="1800" dirty="0"/>
          </a:p>
          <a:p>
            <a:r>
              <a:rPr lang="tr-TR" sz="1800" dirty="0"/>
              <a:t>Girdi görüntüsü</a:t>
            </a:r>
          </a:p>
          <a:p>
            <a:r>
              <a:rPr lang="tr-TR" sz="1800" dirty="0"/>
              <a:t>Ön işleme</a:t>
            </a:r>
          </a:p>
          <a:p>
            <a:r>
              <a:rPr lang="tr-TR" sz="1800" dirty="0"/>
              <a:t>Eşikleme</a:t>
            </a:r>
          </a:p>
          <a:p>
            <a:r>
              <a:rPr lang="tr-TR" sz="1800" dirty="0"/>
              <a:t>Morfolojik işlemler</a:t>
            </a:r>
          </a:p>
          <a:p>
            <a:r>
              <a:rPr lang="tr-TR" sz="1800" dirty="0"/>
              <a:t>Bağlı bileşen analizi</a:t>
            </a:r>
          </a:p>
          <a:p>
            <a:r>
              <a:rPr lang="tr-TR" sz="1800" dirty="0"/>
              <a:t>Nesne sayımı ve sınıflandırma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“Sistem bir görüntü işleme hattı şeklinde tasarlanmıştır. Her adım bir sonrakinin girdisini oluşturmaktadır.”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9EEB143-4A57-6C0D-7716-E98A0AB9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5</a:t>
            </a:fld>
            <a:r>
              <a:rPr lang="tr-TR" dirty="0"/>
              <a:t>/21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4B190D4-6CB3-1042-8D87-A1E801774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2083107"/>
            <a:ext cx="5670804" cy="37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470C-B43D-9969-AD8D-4D49C0A5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06395B1-3077-8263-F7AD-76AB031AE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9EED52D0-1138-EEDB-2011-24AB12F9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VERİ SETİ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1A0D14-3FAF-82F3-DE59-37CEFBF2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/>
              <a:t>Kullanılan Veri Seti</a:t>
            </a:r>
            <a:endParaRPr lang="tr-TR" sz="1800" dirty="0"/>
          </a:p>
          <a:p>
            <a:r>
              <a:rPr lang="tr-TR" sz="1800" dirty="0" err="1"/>
              <a:t>Kaggle</a:t>
            </a:r>
            <a:r>
              <a:rPr lang="tr-TR" sz="1800" dirty="0"/>
              <a:t> kaynaklı madeni para görüntüleri</a:t>
            </a:r>
          </a:p>
          <a:p>
            <a:r>
              <a:rPr lang="tr-TR" sz="1800" dirty="0"/>
              <a:t>Her görüntü için gerçek nesne sayısı (</a:t>
            </a:r>
            <a:r>
              <a:rPr lang="tr-TR" sz="1800" dirty="0" err="1"/>
              <a:t>Ground</a:t>
            </a:r>
            <a:r>
              <a:rPr lang="tr-TR" sz="1800" dirty="0"/>
              <a:t> </a:t>
            </a:r>
            <a:r>
              <a:rPr lang="tr-TR" sz="1800" dirty="0" err="1"/>
              <a:t>Truth</a:t>
            </a:r>
            <a:r>
              <a:rPr lang="tr-TR" sz="1800" dirty="0"/>
              <a:t>)</a:t>
            </a:r>
          </a:p>
          <a:p>
            <a:r>
              <a:rPr lang="tr-TR" sz="1800" dirty="0"/>
              <a:t>Sade ve karmaşık sahneler</a:t>
            </a:r>
          </a:p>
          <a:p>
            <a:r>
              <a:rPr lang="tr-TR" sz="1800" dirty="0" err="1"/>
              <a:t>Count</a:t>
            </a:r>
            <a:r>
              <a:rPr lang="tr-TR" sz="1800" dirty="0"/>
              <a:t> </a:t>
            </a:r>
            <a:r>
              <a:rPr lang="tr-TR" sz="1800" dirty="0" err="1"/>
              <a:t>Coins</a:t>
            </a:r>
            <a:r>
              <a:rPr lang="tr-TR" sz="1800" dirty="0"/>
              <a:t> Image </a:t>
            </a:r>
            <a:r>
              <a:rPr lang="tr-TR" sz="1800" dirty="0" err="1"/>
              <a:t>Dataset</a:t>
            </a:r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“Veri seti hem sade hem de karmaşık sahneler içermektedir. Bu durum yöntemin sınırlarını gözlemlememize olanak sağlamıştır.”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3197FD-81AC-5F75-DFBD-B68798E9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6</a:t>
            </a:fld>
            <a:r>
              <a:rPr lang="tr-TR" dirty="0"/>
              <a:t>/21</a:t>
            </a:r>
          </a:p>
        </p:txBody>
      </p:sp>
      <p:pic>
        <p:nvPicPr>
          <p:cNvPr id="14" name="Resim 13" descr="madeni para, para birimi, para, para taşı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B61A791-C491-4FBF-1CED-D7A3D68EB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888" y="1560633"/>
            <a:ext cx="4373424" cy="43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3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2FF9-53E0-D4A7-A20D-ACA58D4F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C265D33-FF60-9A71-D09E-B2DE33C12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5FD5EC6-0819-A595-994B-7A7888F1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VERİ SETİ</a:t>
            </a:r>
            <a:endParaRPr lang="tr-TR" b="1" dirty="0">
              <a:solidFill>
                <a:srgbClr val="0070C0"/>
              </a:solidFill>
            </a:endParaRPr>
          </a:p>
        </p:txBody>
      </p:sp>
      <p:pic>
        <p:nvPicPr>
          <p:cNvPr id="5" name="İçerik Yer Tutucusu 4" descr="metin, ekran görüntüsü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350EED-F25C-0E7D-1B74-8E4510263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45038" y="1939925"/>
            <a:ext cx="8501826" cy="4737100"/>
          </a:xfrm>
          <a:prstGeom prst="rect">
            <a:avLst/>
          </a:prstGeom>
        </p:spPr>
      </p:pic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C4EF498-D4FE-45F3-B1A7-F9D4741A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7</a:t>
            </a:fld>
            <a:r>
              <a:rPr lang="tr-TR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71149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F892-975C-4584-784D-7331A66A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EA04AB0-955E-4EE8-E877-3313D5888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D0DA853-51BA-C91D-3E82-6AEE6C82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ÖN İŞLEME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1ABAA7-56A9-B64D-4B37-283CC7D9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1800" b="1" dirty="0"/>
              <a:t>Görüntü Ön İşleme</a:t>
            </a:r>
            <a:endParaRPr lang="tr-TR" sz="1800" dirty="0"/>
          </a:p>
          <a:p>
            <a:r>
              <a:rPr lang="tr-TR" sz="1800" dirty="0"/>
              <a:t>RGB → Gri seviye dönüşüm</a:t>
            </a:r>
          </a:p>
          <a:p>
            <a:r>
              <a:rPr lang="tr-TR" sz="1800" dirty="0"/>
              <a:t>Hesaplama karmaşıklığının azaltılması</a:t>
            </a:r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100" dirty="0"/>
              <a:t>	-Tek kanal gri seviye-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“Eşikleme yöntemleri parlaklık değerleriyle çalıştığı için renk bilgisinin yerine parlaklık bilgisi kullanılmıştır.”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E8D515C-3A10-ED13-BCAE-C05388C6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8</a:t>
            </a:fld>
            <a:r>
              <a:rPr lang="tr-TR" dirty="0"/>
              <a:t>/21</a:t>
            </a:r>
          </a:p>
        </p:txBody>
      </p:sp>
      <p:pic>
        <p:nvPicPr>
          <p:cNvPr id="5" name="Resim 4" descr="metin, amblem, simge, sembol, ticari mark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1DB941-6048-9670-CC3F-25A4B75D2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29" y="2053340"/>
            <a:ext cx="4432528" cy="2794144"/>
          </a:xfrm>
          <a:prstGeom prst="rect">
            <a:avLst/>
          </a:prstGeom>
        </p:spPr>
      </p:pic>
      <p:pic>
        <p:nvPicPr>
          <p:cNvPr id="8" name="Resim 7" descr="metin, ekran görüntüsü, yazı tipi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84727BB-6A4F-4AA3-4475-5BDA67BE5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28" y="3479721"/>
            <a:ext cx="2768326" cy="177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1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C22E-6C4D-76F2-B01C-A3D55AC2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68E972B1-264E-9810-FD5F-33A097CDC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1D0B278F-3882-4FBB-9C75-A772F8D3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EŞİKLEME YÖNTEMLERİ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5F7314-B55A-9562-2191-B2046FD0C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/>
              <a:t>Kullanılan Eşikleme Yöntemleri</a:t>
            </a:r>
            <a:endParaRPr lang="tr-TR" sz="1800" dirty="0"/>
          </a:p>
          <a:p>
            <a:r>
              <a:rPr lang="tr-TR" sz="1800" dirty="0"/>
              <a:t>Otsu (Global eşikleme)</a:t>
            </a:r>
          </a:p>
          <a:p>
            <a:r>
              <a:rPr lang="tr-TR" sz="1800" dirty="0"/>
              <a:t>Adaptif (Yerel eşikleme)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 Otsu yöntem histogram temelli çalışırken, adaptif eşikleme lokal bölgeleri dikkate alır. ”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8092A50-1EA6-E743-C294-45329A07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9</a:t>
            </a:fld>
            <a:r>
              <a:rPr lang="tr-TR" dirty="0"/>
              <a:t>/21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709264B-14BF-038E-5970-DF937794C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2451099"/>
            <a:ext cx="5245100" cy="349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3A9C-79E2-624D-873E-0E54C776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İçerik Yer Tutucusu 16">
            <a:extLst>
              <a:ext uri="{FF2B5EF4-FFF2-40B4-BE49-F238E27FC236}">
                <a16:creationId xmlns:a16="http://schemas.microsoft.com/office/drawing/2014/main" id="{0D169193-8B28-E4EC-7EC9-83159385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731"/>
            <a:ext cx="10609613" cy="5460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200" dirty="0"/>
              <a:t>“</a:t>
            </a:r>
            <a:r>
              <a:rPr lang="tr-TR" sz="1800" dirty="0"/>
              <a:t>Aydınlatma değişimlerinin yoğun olduğu sahnelerde adaptif eşikleme daha fazla bölütleme üretmiştir.”</a:t>
            </a:r>
          </a:p>
          <a:p>
            <a:pPr marL="0" indent="0">
              <a:buNone/>
            </a:pPr>
            <a:r>
              <a:rPr lang="tr-TR" sz="2400" b="1" dirty="0"/>
              <a:t>Eşikleme Sonrası Görüntüler</a:t>
            </a:r>
            <a:endParaRPr lang="tr-TR" sz="1200" dirty="0"/>
          </a:p>
          <a:p>
            <a:pPr marL="0" indent="0">
              <a:buNone/>
            </a:pPr>
            <a:endParaRPr lang="tr-TR" sz="12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72FE507-21CB-3B09-C572-1CB5B43738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-7383"/>
          <a:stretch/>
        </p:blipFill>
        <p:spPr>
          <a:xfrm>
            <a:off x="838201" y="556154"/>
            <a:ext cx="12192000" cy="437110"/>
          </a:xfrm>
          <a:prstGeom prst="rect">
            <a:avLst/>
          </a:prstGeom>
        </p:spPr>
      </p:pic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4E3AB5E-C3B4-1896-A2E1-714DD615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2590"/>
            <a:ext cx="2743200" cy="365125"/>
          </a:xfrm>
        </p:spPr>
        <p:txBody>
          <a:bodyPr/>
          <a:lstStyle/>
          <a:p>
            <a:fld id="{E92BF3B9-6EE5-47AC-BBFA-416823C8F6D3}" type="slidenum">
              <a:rPr lang="tr-TR" smtClean="0"/>
              <a:pPr/>
              <a:t>10</a:t>
            </a:fld>
            <a:r>
              <a:rPr lang="tr-TR" dirty="0"/>
              <a:t>/21</a:t>
            </a:r>
          </a:p>
        </p:txBody>
      </p:sp>
      <p:graphicFrame>
        <p:nvGraphicFramePr>
          <p:cNvPr id="2" name="Content Placeholder 7">
            <a:extLst>
              <a:ext uri="{FF2B5EF4-FFF2-40B4-BE49-F238E27FC236}">
                <a16:creationId xmlns:a16="http://schemas.microsoft.com/office/drawing/2014/main" id="{AF2C8981-1C70-4EA5-F9CF-CAC211B4BF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403844"/>
              </p:ext>
            </p:extLst>
          </p:nvPr>
        </p:nvGraphicFramePr>
        <p:xfrm>
          <a:off x="118662" y="1671418"/>
          <a:ext cx="11607993" cy="499490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315143">
                  <a:extLst>
                    <a:ext uri="{9D8B030D-6E8A-4147-A177-3AD203B41FA5}">
                      <a16:colId xmlns:a16="http://schemas.microsoft.com/office/drawing/2014/main" val="1897426572"/>
                    </a:ext>
                  </a:extLst>
                </a:gridCol>
                <a:gridCol w="6292850">
                  <a:extLst>
                    <a:ext uri="{9D8B030D-6E8A-4147-A177-3AD203B41FA5}">
                      <a16:colId xmlns:a16="http://schemas.microsoft.com/office/drawing/2014/main" val="3059840572"/>
                    </a:ext>
                  </a:extLst>
                </a:gridCol>
              </a:tblGrid>
              <a:tr h="988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800" b="1" cap="all" spc="150" dirty="0">
                          <a:solidFill>
                            <a:schemeClr val="tx1"/>
                          </a:solidFill>
                        </a:rPr>
                        <a:t>Otsu sonucu </a:t>
                      </a:r>
                      <a:endParaRPr lang="en-US" sz="2800" b="1" cap="all" spc="15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800" b="1" cap="all" spc="150" dirty="0">
                          <a:solidFill>
                            <a:schemeClr val="tx1"/>
                          </a:solidFill>
                        </a:rPr>
                        <a:t>Adaptif sonucu</a:t>
                      </a:r>
                      <a:endParaRPr lang="en-US" sz="2800" b="1" cap="all" spc="15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733011"/>
                  </a:ext>
                </a:extLst>
              </a:tr>
              <a:tr h="917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43226"/>
                  </a:ext>
                </a:extLst>
              </a:tr>
              <a:tr h="11646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400" b="1" cap="none" spc="0" dirty="0">
                          <a:solidFill>
                            <a:schemeClr val="tx1"/>
                          </a:solidFill>
                        </a:rPr>
                        <a:t>                                                                  k3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400" cap="none" spc="0" dirty="0">
                          <a:solidFill>
                            <a:schemeClr val="tx1"/>
                          </a:solidFill>
                        </a:rPr>
                        <a:t>                                                              </a:t>
                      </a:r>
                      <a:r>
                        <a:rPr lang="tr-TR" sz="2400" b="1" cap="none" spc="0" dirty="0">
                          <a:solidFill>
                            <a:schemeClr val="tx1"/>
                          </a:solidFill>
                        </a:rPr>
                        <a:t>k3 </a:t>
                      </a:r>
                      <a:r>
                        <a:rPr lang="tr-TR" sz="2400" cap="none" spc="0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894201"/>
                  </a:ext>
                </a:extLst>
              </a:tr>
              <a:tr h="19246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400" b="1" cap="none" spc="0" dirty="0">
                          <a:solidFill>
                            <a:schemeClr val="tx1"/>
                          </a:solidFill>
                        </a:rPr>
                        <a:t>                                                                 k5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2400" cap="none" spc="0" dirty="0">
                          <a:solidFill>
                            <a:schemeClr val="tx1"/>
                          </a:solidFill>
                        </a:rPr>
                        <a:t>                                                              </a:t>
                      </a:r>
                      <a:r>
                        <a:rPr lang="tr-TR" sz="2400" b="1" cap="none" spc="0" dirty="0">
                          <a:solidFill>
                            <a:schemeClr val="tx1"/>
                          </a:solidFill>
                        </a:rPr>
                        <a:t>k5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8171" marR="208171" marT="208171" marB="2081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09907"/>
                  </a:ext>
                </a:extLst>
              </a:tr>
            </a:tbl>
          </a:graphicData>
        </a:graphic>
      </p:graphicFrame>
      <p:pic>
        <p:nvPicPr>
          <p:cNvPr id="4" name="Resim 3">
            <a:extLst>
              <a:ext uri="{FF2B5EF4-FFF2-40B4-BE49-F238E27FC236}">
                <a16:creationId xmlns:a16="http://schemas.microsoft.com/office/drawing/2014/main" id="{DC1AACB4-93FA-8F7B-8D1F-E1EBDA10A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438" y="2944211"/>
            <a:ext cx="3652946" cy="1857375"/>
          </a:xfrm>
          <a:prstGeom prst="rect">
            <a:avLst/>
          </a:prstGeom>
        </p:spPr>
      </p:pic>
      <p:pic>
        <p:nvPicPr>
          <p:cNvPr id="7" name="Resim 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3AA7189-BE0E-7EE6-C99F-FA04563100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38" y="4870340"/>
            <a:ext cx="3647393" cy="1857375"/>
          </a:xfrm>
          <a:prstGeom prst="rect">
            <a:avLst/>
          </a:prstGeom>
        </p:spPr>
      </p:pic>
      <p:pic>
        <p:nvPicPr>
          <p:cNvPr id="9" name="Resim 8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8B12509-E447-EA0B-E2DD-44E8C1760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509" y="2769707"/>
            <a:ext cx="3804182" cy="1857375"/>
          </a:xfrm>
          <a:prstGeom prst="rect">
            <a:avLst/>
          </a:prstGeom>
        </p:spPr>
      </p:pic>
      <p:pic>
        <p:nvPicPr>
          <p:cNvPr id="11" name="Resim 10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F26E5F7-2CE3-96B7-2D69-6BF014BF3E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509" y="4870340"/>
            <a:ext cx="3804183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81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DDEA-C309-CF39-A9A2-E851F236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0DB71F9-A355-C780-9A0E-581B96DD2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179AECE1-F59F-ADF5-50CB-B43D54A6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MORFOLOJİK İŞLEMLER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34214A-D1CE-4135-779A-A42A2B0A1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tr-TR" sz="1800" b="1" dirty="0"/>
              <a:t>Morfolojik İşlemler</a:t>
            </a:r>
            <a:endParaRPr lang="tr-TR" sz="1800" dirty="0"/>
          </a:p>
          <a:p>
            <a:r>
              <a:rPr lang="tr-TR" sz="1800" dirty="0" err="1"/>
              <a:t>Opening</a:t>
            </a:r>
            <a:r>
              <a:rPr lang="tr-TR" sz="1800" dirty="0"/>
              <a:t> (Açma)</a:t>
            </a:r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r>
              <a:rPr lang="tr-TR" sz="1800" dirty="0" err="1"/>
              <a:t>Closing</a:t>
            </a:r>
            <a:r>
              <a:rPr lang="tr-TR" sz="1800" dirty="0"/>
              <a:t> (Kapama)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r>
              <a:rPr lang="tr-TR" sz="1800" dirty="0"/>
              <a:t>Kernel: 3×3, 5×5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“Morfolojik işlemler gürültüyü azaltmak ve nesne sınırlarını düzeltmek için kullanılmıştır.”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51F66AD-A04D-6AD3-F979-E1FAD44A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11</a:t>
            </a:fld>
            <a:r>
              <a:rPr lang="tr-TR" dirty="0"/>
              <a:t>/21</a:t>
            </a:r>
          </a:p>
        </p:txBody>
      </p:sp>
      <p:pic>
        <p:nvPicPr>
          <p:cNvPr id="5" name="Resim 4" descr="ekran görüntüsü, daire, renklilik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C9B2A1-543B-1E00-0C71-69C516901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05" y="2611263"/>
            <a:ext cx="3463784" cy="1814764"/>
          </a:xfrm>
          <a:prstGeom prst="rect">
            <a:avLst/>
          </a:prstGeom>
        </p:spPr>
      </p:pic>
      <p:pic>
        <p:nvPicPr>
          <p:cNvPr id="8" name="Resim 7" descr="ekran görüntüsü, daire, diyagram, renkl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C44EF8-2BF6-23B2-DF65-E619FE9B3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01" y="4918734"/>
            <a:ext cx="3534788" cy="1786763"/>
          </a:xfrm>
          <a:prstGeom prst="rect">
            <a:avLst/>
          </a:prstGeom>
        </p:spPr>
      </p:pic>
      <p:pic>
        <p:nvPicPr>
          <p:cNvPr id="11" name="Resim 10" descr="ekran görüntüsü, mor, dikdörtgen, leyla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D11826C-41FA-BD50-F435-AFD8C806C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829" y="2611263"/>
            <a:ext cx="3400764" cy="220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9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EA28-D9C4-C477-7DCE-25B9C295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AA5956D1-CFB7-B792-F10F-6BF10413F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BEEFC05-AD3A-981E-476D-4949179F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KERNEL BOYUTU ETKİSİ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6A4C5F-3E81-759B-1769-25A3A506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tr-TR" sz="1800" b="1" dirty="0"/>
              <a:t>Kernel Boyutunun Etkisi</a:t>
            </a:r>
            <a:endParaRPr lang="tr-TR" sz="1800" dirty="0"/>
          </a:p>
          <a:p>
            <a:r>
              <a:rPr lang="tr-TR" sz="1800" dirty="0"/>
              <a:t>3×3 → Daha hassas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“Kernel boyutu büyüdükçe küçük nesnelerin kaybolma riski artmaktadır.”</a:t>
            </a:r>
          </a:p>
          <a:p>
            <a:pPr marL="0" indent="0">
              <a:buNone/>
            </a:pPr>
            <a:endParaRPr lang="tr-TR" sz="1800" dirty="0"/>
          </a:p>
          <a:p>
            <a:r>
              <a:rPr lang="tr-TR" sz="1800" dirty="0"/>
              <a:t>5×5 → Gürültü azaltır ancak küçük nesneler kaybolabilir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A3CAC0-4807-AA21-B9FF-B37ADC06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12</a:t>
            </a:fld>
            <a:r>
              <a:rPr lang="tr-TR" dirty="0"/>
              <a:t>/21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4F056FD-CCE8-6C30-4BE8-40DE4F1AC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89" y="2887744"/>
            <a:ext cx="4971708" cy="3059513"/>
          </a:xfrm>
          <a:prstGeom prst="rect">
            <a:avLst/>
          </a:prstGeom>
        </p:spPr>
      </p:pic>
      <p:pic>
        <p:nvPicPr>
          <p:cNvPr id="6" name="Resim 5" descr="daire, çizgi fil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8A53ADE-A951-06A3-A12C-50299D3881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506" y="2887743"/>
            <a:ext cx="4971708" cy="305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70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77C2-D7BA-8599-A500-A0D136FD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1E3A818-0CCB-DA7B-F3C4-8008670AB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BA09E2BA-E245-4437-1CE4-56D19AC1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BAĞLI BİLEŞEN ANALİZİ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AEE315-9237-1C19-48FD-54EBAA3FD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 err="1"/>
              <a:t>Connected</a:t>
            </a:r>
            <a:r>
              <a:rPr lang="tr-TR" sz="1800" b="1" dirty="0"/>
              <a:t> Components</a:t>
            </a:r>
            <a:endParaRPr lang="tr-TR" sz="1800" dirty="0"/>
          </a:p>
          <a:p>
            <a:r>
              <a:rPr lang="tr-TR" sz="1800" dirty="0"/>
              <a:t>İkili görüntüdeki her bağlı piksel grubu                                 </a:t>
            </a:r>
            <a:r>
              <a:rPr lang="tr-TR" sz="1200" dirty="0"/>
              <a:t>-connected_components_colored.png -</a:t>
            </a:r>
          </a:p>
          <a:p>
            <a:r>
              <a:rPr lang="tr-TR" sz="1800" dirty="0"/>
              <a:t>Her bileşen bir nesne adayıdır</a:t>
            </a:r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“İkili görüntüdeki her bağlı piksel grubu bir nesne adayı olarak değerlendirilmiştir. Bu aşama nesne sayımının temelini oluşturmaktadır.”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C83237A-2EB1-BD03-9C5B-BB917998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13</a:t>
            </a:fld>
            <a:r>
              <a:rPr lang="tr-TR" dirty="0"/>
              <a:t>/21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270B38B-F97B-22D1-1C70-694BC5F1E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098" y="2636685"/>
            <a:ext cx="5429178" cy="33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70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0F63-BB3A-4EEC-DD6C-4A9C0E74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E955196-3503-18C7-284A-EFA536815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1FE921-29F4-7434-FC1F-6FA87848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HATA SINIFLANDIRMASI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3E02A3-B3AC-908B-16D4-F208B3B60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r>
              <a:rPr lang="tr-TR" sz="1800" b="1" dirty="0"/>
              <a:t>Alan Temelli Sınıflandırma</a:t>
            </a:r>
            <a:endParaRPr lang="tr-TR" sz="1800" dirty="0"/>
          </a:p>
          <a:p>
            <a:r>
              <a:rPr lang="tr-TR" sz="1800" dirty="0"/>
              <a:t>Small</a:t>
            </a:r>
          </a:p>
          <a:p>
            <a:r>
              <a:rPr lang="tr-TR" sz="1800" dirty="0"/>
              <a:t>Normal</a:t>
            </a:r>
          </a:p>
          <a:p>
            <a:r>
              <a:rPr lang="tr-TR" sz="1800" dirty="0" err="1"/>
              <a:t>Large</a:t>
            </a:r>
            <a:r>
              <a:rPr lang="tr-TR" sz="1800" dirty="0"/>
              <a:t> / </a:t>
            </a:r>
            <a:r>
              <a:rPr lang="tr-TR" sz="1800" dirty="0" err="1"/>
              <a:t>Stuck</a:t>
            </a:r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“Alan temelli bu sınıflandırma, sayım hatalarının nedenlerini analiz etmek için kullanılmıştır.”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F9F28E8-5275-3043-3CF6-7CCC4758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14</a:t>
            </a:fld>
            <a:r>
              <a:rPr lang="tr-TR" dirty="0"/>
              <a:t>/21</a:t>
            </a:r>
          </a:p>
        </p:txBody>
      </p:sp>
      <p:pic>
        <p:nvPicPr>
          <p:cNvPr id="5" name="Resim 4" descr="metin, para birimi, para, nan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E048FC-1464-A88F-4EF6-03A28A0CF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25" y="2452687"/>
            <a:ext cx="3861130" cy="321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63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CE25-E25A-895B-95D0-0DD2A17E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F343E9DF-5E7F-83AB-34C3-588673900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1658BDBC-4748-B568-2196-567BDCB4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DENEYSEL TASARIM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E796D14-6F51-E9FF-95C2-F48780BC9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r>
              <a:rPr lang="tr-TR" sz="1800" b="1" dirty="0"/>
              <a:t>Deneysel Konfigürasyonlar</a:t>
            </a:r>
            <a:endParaRPr lang="tr-TR" sz="1800" dirty="0"/>
          </a:p>
          <a:p>
            <a:r>
              <a:rPr lang="tr-TR" sz="1800" dirty="0"/>
              <a:t>Otsu + 3×3</a:t>
            </a:r>
          </a:p>
          <a:p>
            <a:r>
              <a:rPr lang="tr-TR" sz="1800" dirty="0"/>
              <a:t>Otsu + 5×5</a:t>
            </a:r>
          </a:p>
          <a:p>
            <a:r>
              <a:rPr lang="tr-TR" sz="1800" dirty="0"/>
              <a:t>Adaptif + 3×3</a:t>
            </a:r>
          </a:p>
          <a:p>
            <a:r>
              <a:rPr lang="tr-TR" sz="1800" dirty="0"/>
              <a:t>Adaptif + 5×5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“Dört farklı konfigürasyon bağımsız olarak test edilmiştir.”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75F4305-D283-1A7A-1D72-9930B69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15</a:t>
            </a:fld>
            <a:r>
              <a:rPr lang="tr-TR" dirty="0"/>
              <a:t>/21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86FACDED-013C-E56B-2122-C9F135A74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110" y="2789591"/>
            <a:ext cx="7738229" cy="260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27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6963-8A1D-D4CD-68B2-2543E597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87D2B8A-13A4-FCE8-669E-38B84A61F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D8D37D8-B0DB-2846-3274-CE01CDBC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PERFORMANS METRİKLERİ</a:t>
            </a:r>
            <a:endParaRPr lang="tr-TR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E9C7E735-3E10-C5C8-AA3D-01236FA1F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965" y="1939265"/>
                <a:ext cx="11072771" cy="4649999"/>
              </a:xfrm>
            </p:spPr>
            <p:txBody>
              <a:bodyPr>
                <a:normAutofit fontScale="92500"/>
              </a:bodyPr>
              <a:lstStyle/>
              <a:p>
                <a:r>
                  <a:rPr lang="tr-TR" sz="1800" b="1" dirty="0"/>
                  <a:t>Kullanılan Metrikler</a:t>
                </a:r>
                <a:endParaRPr lang="tr-TR" sz="1800" dirty="0"/>
              </a:p>
              <a:p>
                <a:r>
                  <a:rPr lang="tr-TR" sz="1800" dirty="0" err="1"/>
                  <a:t>Mean</a:t>
                </a:r>
                <a:r>
                  <a:rPr lang="tr-TR" sz="1800" dirty="0"/>
                  <a:t> </a:t>
                </a:r>
                <a:r>
                  <a:rPr lang="tr-TR" sz="1800" dirty="0" err="1"/>
                  <a:t>Absolute</a:t>
                </a:r>
                <a:r>
                  <a:rPr lang="tr-TR" sz="1800" dirty="0"/>
                  <a:t> </a:t>
                </a:r>
                <a:r>
                  <a:rPr lang="tr-TR" sz="1800" dirty="0" err="1"/>
                  <a:t>Error</a:t>
                </a:r>
                <a:r>
                  <a:rPr lang="tr-TR" sz="1800" dirty="0"/>
                  <a:t> (MAE)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700" i="1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tr-TR" sz="1700" i="1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nary>
                        <m:naryPr>
                          <m:chr m:val="∑"/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ŷ</m:t>
                                  </m:r>
                                </m:e>
                                <m:sub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tr-TR" sz="1800" dirty="0"/>
              </a:p>
              <a:p>
                <a:pPr marL="0" indent="0">
                  <a:buNone/>
                </a:pPr>
                <a:r>
                  <a:rPr lang="tr-TR" sz="1800" dirty="0"/>
                  <a:t>-------------------------------------------------------------------------------------------------------------------------------------------------------------</a:t>
                </a:r>
              </a:p>
              <a:p>
                <a:r>
                  <a:rPr lang="tr-TR" sz="1800" dirty="0" err="1"/>
                  <a:t>Count</a:t>
                </a:r>
                <a:r>
                  <a:rPr lang="tr-TR" sz="1800" dirty="0"/>
                  <a:t> </a:t>
                </a:r>
                <a:r>
                  <a:rPr lang="tr-TR" sz="1800" dirty="0" err="1"/>
                  <a:t>Accuracy</a:t>
                </a:r>
                <a:endParaRPr lang="tr-TR" sz="1800" dirty="0"/>
              </a:p>
              <a:p>
                <a:r>
                  <a:rPr lang="tr-TR" sz="1800" b="1" dirty="0"/>
                  <a:t>Tek Görüntü İçin:</a:t>
                </a:r>
                <a:endParaRPr lang="tr-T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tr-TR" sz="1700"/>
                            <m:t>Count</m:t>
                          </m:r>
                          <m:r>
                            <m:rPr>
                              <m:nor/>
                            </m:rPr>
                            <a:rPr lang="tr-TR" sz="1700"/>
                            <m:t> </m:t>
                          </m:r>
                          <m:r>
                            <m:rPr>
                              <m:nor/>
                            </m:rPr>
                            <a:rPr lang="tr-TR" sz="1700"/>
                            <m:t>Accuracy</m:t>
                          </m:r>
                        </m:e>
                        <m:sub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17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dirty="0"/>
              </a:p>
              <a:p>
                <a:pPr marL="0" indent="0">
                  <a:buNone/>
                </a:pPr>
                <a:r>
                  <a:rPr lang="tr-TR" dirty="0"/>
                  <a:t> </a:t>
                </a:r>
                <a:r>
                  <a:rPr lang="tr-TR" sz="1800" b="1" dirty="0"/>
                  <a:t>Tüm Veri Kümesi İçin Ortalama Sayım Doğruluğu:</a:t>
                </a:r>
                <a:endParaRPr lang="tr-T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sz="1700"/>
                        <m:t>Count</m:t>
                      </m:r>
                      <m:r>
                        <m:rPr>
                          <m:nor/>
                        </m:rPr>
                        <a:rPr lang="tr-TR" sz="1700"/>
                        <m:t> </m:t>
                      </m:r>
                      <m:r>
                        <m:rPr>
                          <m:nor/>
                        </m:rPr>
                        <a:rPr lang="tr-TR" sz="1700"/>
                        <m:t>Accuracy</m:t>
                      </m:r>
                      <m:r>
                        <a:rPr lang="tr-TR" sz="17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tr-TR" sz="1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7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tr-TR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7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b>
                                    <m:sSubPr>
                                      <m:ctrlP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tr-TR" sz="17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tr-TR" sz="1700" i="1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tr-TR" sz="17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br>
                  <a:rPr lang="tr-TR" dirty="0"/>
                </a:br>
                <a:endParaRPr lang="tr-TR" sz="1800" dirty="0"/>
              </a:p>
              <a:p>
                <a:pPr marL="0" indent="0">
                  <a:buNone/>
                </a:pPr>
                <a:r>
                  <a:rPr lang="tr-TR" sz="1800" dirty="0"/>
                  <a:t>“Bu metrikler hem hata miktarını hem göreli başarıyı ölçmektedir, nicel performans değerlendirmesi için kullanılmıştır.”</a:t>
                </a:r>
              </a:p>
              <a:p>
                <a:pPr marL="0" indent="0" algn="just">
                  <a:buNone/>
                </a:pPr>
                <a:endParaRPr lang="tr-TR" sz="1800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E9C7E735-3E10-C5C8-AA3D-01236FA1F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965" y="1939265"/>
                <a:ext cx="11072771" cy="4649999"/>
              </a:xfrm>
              <a:blipFill>
                <a:blip r:embed="rId4"/>
                <a:stretch>
                  <a:fillRect l="-385" t="-91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E6FA136-6513-3D71-17ED-20B2558E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16</a:t>
            </a:fld>
            <a:r>
              <a:rPr lang="tr-TR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906160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D85C-F902-C55E-4823-C26BBABC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2B794D4-1930-90D8-8888-3680409D8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8C67FDF-0A29-1708-E50A-305796D7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SONUÇ TABLOSU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223B05-979C-9BD2-8576-3B6D73D9B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r>
              <a:rPr lang="tr-TR" sz="1800" b="1" dirty="0"/>
              <a:t>Deney Sonuçları</a:t>
            </a:r>
            <a:endParaRPr lang="tr-TR" sz="1800" dirty="0"/>
          </a:p>
          <a:p>
            <a:r>
              <a:rPr lang="tr-TR" sz="1800" dirty="0"/>
              <a:t>En iyi performans: Otsu + 3×3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“En dengeli sonuçlar Otsu + 3×3 </a:t>
            </a:r>
            <a:r>
              <a:rPr lang="tr-TR" sz="1800" dirty="0" err="1"/>
              <a:t>kernel</a:t>
            </a:r>
            <a:r>
              <a:rPr lang="tr-TR" sz="1800" dirty="0"/>
              <a:t> ile elde edilmiştir.”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106C9E5-8506-B093-F469-CC2FC8BD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17</a:t>
            </a:fld>
            <a:r>
              <a:rPr lang="tr-TR" dirty="0"/>
              <a:t>/21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A4DBAFF5-7F51-B6BE-1C04-789679257F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343142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20171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1156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Yöntem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Accuracy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014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Otsu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39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Adaptif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0.35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79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06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5D96-9DCF-9624-AA01-381AF61D7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CAC5635-F918-11A0-38A1-796767349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6F820E3-9B18-C9F9-8A82-59106B63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BAŞARISIZ ÖRNEKLER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7691F7-F0C8-BA94-8313-3EF04D5C8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r>
              <a:rPr lang="tr-TR" sz="1800" b="1" dirty="0"/>
              <a:t>Karmaşık Sahne Problemleri</a:t>
            </a:r>
            <a:endParaRPr lang="tr-TR" sz="1800" dirty="0"/>
          </a:p>
          <a:p>
            <a:r>
              <a:rPr lang="tr-TR" sz="1800" dirty="0"/>
              <a:t>Metin ve grafik içeren görüntüler</a:t>
            </a:r>
          </a:p>
          <a:p>
            <a:r>
              <a:rPr lang="tr-TR" sz="1800" dirty="0"/>
              <a:t>Aşırı bölütleme</a:t>
            </a:r>
          </a:p>
          <a:p>
            <a:endParaRPr lang="tr-TR" sz="1800" dirty="0"/>
          </a:p>
          <a:p>
            <a:pPr marL="0" indent="0">
              <a:buNone/>
            </a:pPr>
            <a:r>
              <a:rPr lang="tr-TR" sz="1800" dirty="0"/>
              <a:t>Klasik yöntemlerin sınırları bu tür sahnelerde ortaya çıkmaktadır.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FB56908-422D-83A3-52FF-E792E7E5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18</a:t>
            </a:fld>
            <a:r>
              <a:rPr lang="tr-TR" dirty="0"/>
              <a:t>/21</a:t>
            </a:r>
          </a:p>
        </p:txBody>
      </p:sp>
      <p:pic>
        <p:nvPicPr>
          <p:cNvPr id="5" name="Resim 4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B9ED66D-91A0-C992-94C8-74CDD7CB3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037" y="1939264"/>
            <a:ext cx="3674179" cy="427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7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4F52-95AC-0CCC-17B8-1781E1E2E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E59C039-77C0-9153-B57E-173786637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0892808-6148-C2BD-A451-6F630486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110" y="543499"/>
            <a:ext cx="7659584" cy="1017134"/>
          </a:xfrm>
        </p:spPr>
        <p:txBody>
          <a:bodyPr>
            <a:normAutofit/>
          </a:bodyPr>
          <a:lstStyle/>
          <a:p>
            <a:pPr algn="ctr"/>
            <a:r>
              <a:rPr lang="tr-TR" b="1" dirty="0"/>
              <a:t>SONUÇ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050406-61A6-06F2-180A-F779C19B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/>
              <a:t>Avantajlar</a:t>
            </a:r>
            <a:endParaRPr lang="tr-TR" sz="1800" dirty="0"/>
          </a:p>
          <a:p>
            <a:r>
              <a:rPr lang="tr-TR" sz="1800" dirty="0"/>
              <a:t>Hızlı</a:t>
            </a:r>
          </a:p>
          <a:p>
            <a:r>
              <a:rPr lang="tr-TR" sz="1800" dirty="0"/>
              <a:t>Düşük maliyetli</a:t>
            </a:r>
          </a:p>
          <a:p>
            <a:pPr marL="0" indent="0">
              <a:buNone/>
            </a:pPr>
            <a:r>
              <a:rPr lang="tr-TR" sz="1800" b="1" dirty="0"/>
              <a:t>Sınırlamalar</a:t>
            </a:r>
            <a:endParaRPr lang="tr-TR" sz="1800" dirty="0"/>
          </a:p>
          <a:p>
            <a:r>
              <a:rPr lang="tr-TR" sz="1800" dirty="0"/>
              <a:t>Karmaşık sahnelerde başarım düşüşü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“Klasik yöntemler hızlı ve maliyetsizdir ancak karmaşık sahnelerde yetersiz kalmaktadır ve her problem için uygun değildir.”</a:t>
            </a:r>
          </a:p>
          <a:p>
            <a:pPr marL="0" indent="0" algn="just">
              <a:buNone/>
            </a:pPr>
            <a:endParaRPr lang="tr-TR" sz="18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37C262-22E8-7E42-80DB-5649DDBA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19</a:t>
            </a:fld>
            <a:r>
              <a:rPr lang="tr-TR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917786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965F-E4B4-198B-F546-281639DD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2E494D9-6052-6CD0-B70E-1993A514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612" y="333257"/>
            <a:ext cx="12266928" cy="1113301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118191-FC6B-F359-72F0-E6C9B7AE4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65" y="1939265"/>
            <a:ext cx="11193729" cy="4737696"/>
          </a:xfrm>
        </p:spPr>
        <p:txBody>
          <a:bodyPr>
            <a:normAutofit/>
          </a:bodyPr>
          <a:lstStyle/>
          <a:p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r>
              <a:rPr lang="tr-TR" sz="3600" dirty="0"/>
              <a:t>“Gelecek çalışmalarda derin öğrenme tabanlı nesne tespit yöntemleriyle karşılaştırma yapılabilir.”</a:t>
            </a:r>
          </a:p>
          <a:p>
            <a:pPr marL="0" indent="0" algn="just">
              <a:buNone/>
            </a:pPr>
            <a:endParaRPr lang="tr-TR" sz="3600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B69ABBB-38B3-ED57-B92C-09DEB589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F3B9-6EE5-47AC-BBFA-416823C8F6D3}" type="slidenum">
              <a:rPr lang="tr-TR" smtClean="0"/>
              <a:pPr/>
              <a:t>20</a:t>
            </a:fld>
            <a:r>
              <a:rPr lang="tr-TR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458883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B9418FF-2913-4435-9FD4-2F4ACBDAE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192000" cy="50919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B800D5-3A03-43FE-90B8-EBC570EA5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196" y="1689546"/>
            <a:ext cx="3937608" cy="1712860"/>
          </a:xfrm>
          <a:prstGeom prst="rect">
            <a:avLst/>
          </a:prstGeom>
        </p:spPr>
      </p:pic>
      <p:sp>
        <p:nvSpPr>
          <p:cNvPr id="10" name="Alt Bilgi Yer Tutucusu 2">
            <a:extLst>
              <a:ext uri="{FF2B5EF4-FFF2-40B4-BE49-F238E27FC236}">
                <a16:creationId xmlns:a16="http://schemas.microsoft.com/office/drawing/2014/main" id="{25DE049B-D0F3-4A03-BCEC-29E423FE2D78}"/>
              </a:ext>
            </a:extLst>
          </p:cNvPr>
          <p:cNvSpPr txBox="1">
            <a:spLocks/>
          </p:cNvSpPr>
          <p:nvPr/>
        </p:nvSpPr>
        <p:spPr>
          <a:xfrm>
            <a:off x="4038600" y="617986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r-T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000" dirty="0">
                <a:solidFill>
                  <a:srgbClr val="1B3C6B"/>
                </a:solidFill>
              </a:rPr>
              <a:t>444 0 478</a:t>
            </a:r>
          </a:p>
        </p:txBody>
      </p:sp>
    </p:spTree>
    <p:extLst>
      <p:ext uri="{BB962C8B-B14F-4D97-AF65-F5344CB8AC3E}">
        <p14:creationId xmlns:p14="http://schemas.microsoft.com/office/powerpoint/2010/main" val="2645807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B0C99CCD245DF409C0234BD3F1A770E" ma:contentTypeVersion="3" ma:contentTypeDescription="Yeni belge oluşturun." ma:contentTypeScope="" ma:versionID="e71394ecc2f3c8e97c91868cab9c10ef">
  <xsd:schema xmlns:xsd="http://www.w3.org/2001/XMLSchema" xmlns:xs="http://www.w3.org/2001/XMLSchema" xmlns:p="http://schemas.microsoft.com/office/2006/metadata/properties" xmlns:ns2="3b6a6689-d2e6-435a-8f0d-98232809464b" targetNamespace="http://schemas.microsoft.com/office/2006/metadata/properties" ma:root="true" ma:fieldsID="96a81ea5873523660bcdaa1cbd772298" ns2:_="">
    <xsd:import namespace="3b6a6689-d2e6-435a-8f0d-9823280946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a6689-d2e6-435a-8f0d-9823280946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ED4C61-CD33-4570-9102-8FC90D953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A29E905-0225-4F6D-A258-BD026927FB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B63623-7A53-4DC7-84DE-7E34555260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6a6689-d2e6-435a-8f0d-9823280946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5366</TotalTime>
  <Words>659</Words>
  <Application>Microsoft Office PowerPoint</Application>
  <PresentationFormat>Geniş ekran</PresentationFormat>
  <Paragraphs>253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Teması</vt:lpstr>
      <vt:lpstr>  Uygulamalı Bilgisayarlı Görme BAĞLI BİLEŞEN ANALİZİ İLE NESNE SAYIMI VE BASİT HATA SINIFLANDIRMASI</vt:lpstr>
      <vt:lpstr>PowerPoint Sunusu</vt:lpstr>
      <vt:lpstr>PowerPoint Sunusu</vt:lpstr>
      <vt:lpstr>PowerPoint Sunusu</vt:lpstr>
      <vt:lpstr>GENEL YAKLAŞIM (PIPELINE)</vt:lpstr>
      <vt:lpstr>VERİ SETİ</vt:lpstr>
      <vt:lpstr>VERİ SETİ</vt:lpstr>
      <vt:lpstr>ÖN İŞLEME</vt:lpstr>
      <vt:lpstr>EŞİKLEME YÖNTEMLERİ</vt:lpstr>
      <vt:lpstr>PowerPoint Sunusu</vt:lpstr>
      <vt:lpstr>MORFOLOJİK İŞLEMLER</vt:lpstr>
      <vt:lpstr>KERNEL BOYUTU ETKİSİ</vt:lpstr>
      <vt:lpstr>BAĞLI BİLEŞEN ANALİZİ</vt:lpstr>
      <vt:lpstr>HATA SINIFLANDIRMASI</vt:lpstr>
      <vt:lpstr>DENEYSEL TASARIM</vt:lpstr>
      <vt:lpstr>PERFORMANS METRİKLERİ</vt:lpstr>
      <vt:lpstr>SONUÇ TABLOSU</vt:lpstr>
      <vt:lpstr>BAŞARISIZ ÖRNEKLER</vt:lpstr>
      <vt:lpstr>SONUÇ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hilal sansar</dc:creator>
  <cp:lastModifiedBy>Baha ALTURAN</cp:lastModifiedBy>
  <cp:revision>352</cp:revision>
  <dcterms:created xsi:type="dcterms:W3CDTF">2024-12-09T09:13:33Z</dcterms:created>
  <dcterms:modified xsi:type="dcterms:W3CDTF">2026-01-05T12:21:15Z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0x0101002B0C99CCD245DF409C0234BD3F1A770E</vt:lpwstr>
  </property>
</Properties>
</file>